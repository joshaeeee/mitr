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60+</c:v>
                </c:pt>
                <c:pt idx="1">
                  <c:v>70+</c:v>
                </c:pt>
                <c:pt idx="2">
                  <c:v>80+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900809</c:v>
                </c:pt>
                <c:pt idx="1">
                  <c:v>352994</c:v>
                </c:pt>
                <c:pt idx="2">
                  <c:v>104905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B2545"/>
                </a:solidFill>
              </a:defRPr>
            </a:pPr>
            <a:r>
              <a:t>MITR for Uttarakhand: Elder Care Intelligence for 60+ Citizens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5A5A5A"/>
                </a:solidFill>
              </a:defRPr>
            </a:pPr>
            <a:r>
              <a:t>Government Presentation Draft | Problem, Scheme Alignment, and Pilot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Uttarakhand has a large and growing elderly population with high rural concentration and difficult terrain access.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Current welfare and health programmes exist, but day-to-day continuity and early-risk detection are weak.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MITR adds a voice-first safety and adherence layer connecting families, government schemes and service partners.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Result: better daily care outcomes, faster interventions, and measurable district-level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Uttarakhand Elder Demographics (Census 2011 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60+ population: 900,809 (8.93% of state population)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70+ population: 352,994 (3.50%)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80+ population: 104,905 (1.04%)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60+ rural share: 75.05%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60+ urban share: 24.95%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669280" y="1280160"/>
          <a:ext cx="62179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Source: Census 2011 C-13 Single Year Age Returns (State code 05, Uttarakhand).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Uttarakhand 60+ Insights from LASI (Wave 1, 2017-18)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474720"/>
              </a:tblGrid>
              <a:tr h="627017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82828"/>
                          </a:solidFill>
                        </a:defRPr>
                      </a:pPr>
                      <a:r>
                        <a:t>Indicator (Uttarakhand, age 60+)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282828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Literate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49.5%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Currently married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62.0%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Widowed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36.4%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Currently 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29.8%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Living 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5.9%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Work-related pension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282828"/>
                          </a:solidFill>
                        </a:defRPr>
                      </a:pPr>
                      <a:r>
                        <a:t>22.6%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607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C3C3C"/>
                </a:solidFill>
              </a:defRPr>
            </a:pPr>
            <a:r>
              <a:t>Interpretation: high widowhood + non-trivial living-alone share + low pension coverage indicate a need for daily monitoring, social connection and scheme-linkage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Source: LASI State Factsheets &amp; UTs (IIPS/Harvard/MoHFW), Uttarakhand section.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What MITR Solves for Uttarakhand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Voice-first elder companion (Hindi + regional support) for daily interaction, reminders, emotional check-ins and escalation.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Caregiver app for nudges, tasks, alert triage, and day-level wellbeing confidence with evidence snippets.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Async analytics pipeline: transcripts + interaction signals -&gt; daily digest + risk cards (non-diagnostic, confidence-banded).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District/admin dashboard: scheme linkage, unresolved concerns, response SLAs, and impact KPIs.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Designed for low digital literacy and intermittent connectivity in hill geographies.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Programme Convergence</a:t>
            </a:r>
          </a:p>
          <a:p>
            <a:pPr algn="ctr">
              <a:defRPr sz="2000">
                <a:solidFill>
                  <a:srgbClr val="DBE6F4"/>
                </a:solidFill>
              </a:defRPr>
            </a:pPr>
            <a:r>
              <a:t>How MITR plugs into existing public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Government Scheme Integration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NSAP / IGNOAPS: Identify eligible seniors, pre-fill documentation support, and track pension disbursement exceptions via district dashboards.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NPHCE (National Programme for Health Care of Elderly): MITR flags frailty-risk, low adherence, distress language; routes to nearest geriatric OPD/CHC workflow.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PM-JAY + Atal Ayushman Uttarakhand: surface entitlement status and guide family to empanelled hospital pathways for senior cases.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eSanjeevani telemedicine: one-tap assisted teleconsult initiation from family app/web-sim for non-emergency follow-ups.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ABHA/ABDHM readiness: retain consented health records/events for continuity across public and private providers.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Source: nsap.nic.in, pmjay.gov.in, nhm.uk.gov.in (NPHCE), esanjeevani.mohfw.gov.in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Startup &amp; Private Ecosystem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Blinkit / Instamart: rapid delivery for essentials (adult diapers, hydration, nutrition items, OTC support where lawful).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Tata 1mg: medicine refill reminders to order flow, medicine catalog match, and adherence-linked reorder nudges.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Dr Lal PathLabs: home sample booking trigger when recurring health concerns or doctor-advised monitoring appears.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Partner model: API where available, else secure affiliate/deep-link + assisted checkout + caregiver confirmation.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Governance: every order flow must be caregiver-consented and auditable for state programme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Source: blinkit.com, swiggy.com/instamart, 1mg.com, lalpathlabs.com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6-Month Government Pilot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Pilot footprint: 3 districts (1 urban-heavy, 1 mixed, 1 hill-remote) for 6 months.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Proposed cohort: 5,000 seniors (priority: 60+ living alone, chronic disease, widowhood, poor adherence).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Operational stack: ASHA/ANM + district social welfare officers + family caregivers + call center backup.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Target outcomes: reduced missed medication, faster response to distress signals, improved teleconsult completion.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Evaluation design: baseline month + monthly district reviews + independent impact audit at month 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KPI Framework for State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Coverage KPI: % of identified 60+ onboarded and active (weekly active seniors).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Care KPI: reminder adherence uplift, missed-dose reduction, teleconsult completion rate.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Safety KPI: median time from concern detection to human acknowledgement.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Social KPI: reduction in no-interaction days and improvement in engagement depth.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Scheme KPI: pension/insurance eligibility cases successfully linked and resolved.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Risk, Ethics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Privacy and consent: explicit caregiver and elder consent, role-based access, full audit trails.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False alarms: confidence thresholds + human-in-loop validation before escalation.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Language and accent variation: district-level language packs and adaptive tuning.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Connectivity gaps: queue-first architecture with delayed sync; no data loss.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Policy guardrail: wellness support only, no autonomous diagnosis.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Decision &amp; Support Requested from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Nominate 1 nodal officer each from Health, Social Welfare, and IT for pilot steering committee.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Provide district-level access for pension and elder-health coordination interfaces.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Approve 6-month pilot with defined KPIs, review cadence, and expansion gate criteria.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Enable partner MoUs for medicine, diagnostics, and telemedicine connectors.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B2545"/>
                </a:solidFill>
              </a:defRPr>
            </a:pPr>
            <a:r>
              <a:t>Primary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Census 2011 C-13 single-year age returns (Uttarakhand state code 05): https://censusindia.gov.in/nada/index.php/catalog/1470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LASI State Factsheets &amp; UTs (Uttarakhand section): https://lasi-india.org/public/documentation/LASI-FACTSHEETS-STATES%20%26%20UTs_3-1-2021.pdf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NSAP official portal: https://nsap.nic.in/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PM-JAY official portal: https://pmjay.gov.in/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Uttarakhand NHM programme page (includes NPHCE context): https://nhm.uk.gov.in/division/national-program-for-cancer-diabetes-cardiovascular-diseases-stroke-npcdcs/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eSanjeevani national portal: https://esanjeevani.mohfw.gov.in/</a:t>
            </a:r>
          </a:p>
          <a:p>
            <a:pPr>
              <a:defRPr sz="1400">
                <a:solidFill>
                  <a:srgbClr val="282828"/>
                </a:solidFill>
              </a:defRPr>
            </a:pPr>
            <a:r>
              <a:t>Uttarakhand Social Welfare portal: https://socialwelfare.uk.gov.in/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